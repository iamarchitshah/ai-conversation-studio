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706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0B6B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FF6F5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2A58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43584" y="5303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STUDIO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822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Enterprise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2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FOR EVERYONE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633472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our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 are telling the truth?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9326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 required. This is a plain-English look at what AI Conversation Studio does,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checks every answer before you ever see it.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Archit Shah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EVERYDAY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 sound confident — even when they're wrong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asking a coworker a question. They answer instantly, calmly, and with total confidence — but you have no way to check if they actually knew the answer, or just made it sound right. That's the problem with AI assistants at work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3200400"/>
            <a:ext cx="566928" cy="566928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7" name="Image 0" descr="/home/claude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284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950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sounds right...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86384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“Yes, personal laptops can access production systems.” said with total confidence.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13632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187952" y="29260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320040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/home/claude/icons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32841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25696" y="3950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is it true?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425696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reading that answer can tell whether it came from an actual policy document or was simply guessed.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552944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7827264" y="29260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83296" y="3200400"/>
            <a:ext cx="566928" cy="566928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9" name="Image 2" descr="/home/claude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32841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65008" y="3950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gap we close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065008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checks every answer against real source documents before anyone sees it.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029200" cy="5029200"/>
          </a:xfrm>
          <a:prstGeom prst="ellipse">
            <a:avLst/>
          </a:prstGeom>
          <a:solidFill>
            <a:srgbClr val="0B6B57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IDEA, IN ONE SENTENCE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as a fact-checker</a:t>
            </a:r>
            <a:endParaRPr lang="en-US" sz="3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sits between every AI assistant and its answer.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answer ever reaches an employee, it passes through one more step: a check against the real source document, plus a plain-language explanation of how confident we should be.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4050792"/>
            <a:ext cx="502920" cy="502920"/>
          </a:xfrm>
          <a:prstGeom prst="ellipse">
            <a:avLst/>
          </a:prstGeom>
          <a:solidFill>
            <a:srgbClr val="8FA39E"/>
          </a:solidFill>
          <a:ln/>
        </p:spPr>
      </p:sp>
      <p:pic>
        <p:nvPicPr>
          <p:cNvPr id="8" name="Image 0" descr="/home/claude/icons/chat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696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509320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answers.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to just trust 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87952" y="37947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25696" y="405079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/home/claude/icons/search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41696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25696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25696" y="509320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 checks the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against the source.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27264" y="379476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65008" y="4050792"/>
            <a:ext cx="502920" cy="50292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8" name="Image 2" descr="/home/claude/icons/check_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1696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65008" y="4709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65008" y="509320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exactly what's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and what isn't.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one question on its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simple stops — every one of them happens automatically, in under a second.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719072" cy="356616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2144" y="2295144"/>
            <a:ext cx="512064" cy="512064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7" name="Image 0" descr="/home/claude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4140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3538728"/>
            <a:ext cx="1499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use my personal laptop to log in?”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2249424" y="235000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404872" y="2057400"/>
            <a:ext cx="1719072" cy="356616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08376" y="2295144"/>
            <a:ext cx="512064" cy="512064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4" name="Image 1" descr="/home/claude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41401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6312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496312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it up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514600" y="3538728"/>
            <a:ext cx="1499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real policy documents — not memory.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4105656" y="235000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261104" y="2057400"/>
            <a:ext cx="1719072" cy="356616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64608" y="2295144"/>
            <a:ext cx="512064" cy="512064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1" name="Image 2" descr="/home/claude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41401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52544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352544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drafts an answer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370832" y="3538728"/>
            <a:ext cx="1499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reply using only what it found.</a:t>
            </a:r>
            <a:endParaRPr lang="en-US" sz="980" dirty="0"/>
          </a:p>
        </p:txBody>
      </p:sp>
      <p:sp>
        <p:nvSpPr>
          <p:cNvPr id="25" name="Text 20"/>
          <p:cNvSpPr/>
          <p:nvPr/>
        </p:nvSpPr>
        <p:spPr>
          <a:xfrm>
            <a:off x="5961888" y="235000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117336" y="2057400"/>
            <a:ext cx="1719072" cy="356616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720840" y="2295144"/>
            <a:ext cx="512064" cy="512064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8" name="Image 3" descr="/home/claude/icon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2414016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08776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208776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its work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227064" y="3538728"/>
            <a:ext cx="1499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is matched back to the source.</a:t>
            </a:r>
            <a:endParaRPr lang="en-US" sz="980" dirty="0"/>
          </a:p>
        </p:txBody>
      </p:sp>
      <p:sp>
        <p:nvSpPr>
          <p:cNvPr id="32" name="Text 26"/>
          <p:cNvSpPr/>
          <p:nvPr/>
        </p:nvSpPr>
        <p:spPr>
          <a:xfrm>
            <a:off x="7818120" y="235000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7973568" y="2057400"/>
            <a:ext cx="1719072" cy="356616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577072" y="2295144"/>
            <a:ext cx="512064" cy="512064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35" name="Image 4" descr="/home/claude/icons/gau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944" y="2414016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65008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8065008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a report card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083296" y="3538728"/>
            <a:ext cx="1499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truthfulness, relevance, completeness.</a:t>
            </a:r>
            <a:endParaRPr lang="en-US" sz="980" dirty="0"/>
          </a:p>
        </p:txBody>
      </p:sp>
      <p:sp>
        <p:nvSpPr>
          <p:cNvPr id="39" name="Text 32"/>
          <p:cNvSpPr/>
          <p:nvPr/>
        </p:nvSpPr>
        <p:spPr>
          <a:xfrm>
            <a:off x="9674352" y="2350008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9829800" y="2057400"/>
            <a:ext cx="1719072" cy="356616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0433304" y="2295144"/>
            <a:ext cx="512064" cy="512064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42" name="Image 5" descr="/home/claude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2176" y="2414016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21240" y="2130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921240" y="2990088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apply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9939528" y="3538728"/>
            <a:ext cx="1499616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private data, banned topics, staleness.</a:t>
            </a:r>
            <a:endParaRPr lang="en-US" sz="980" dirty="0"/>
          </a:p>
        </p:txBody>
      </p:sp>
      <p:sp>
        <p:nvSpPr>
          <p:cNvPr id="46" name="Text 3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— STEP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Watching an answer get fact-checked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teacher grading an essay with the textbook open — every sentence gets underlined and matched back to a page.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309360" cy="3840480"/>
          </a:xfrm>
          <a:prstGeom prst="roundRect">
            <a:avLst>
              <a:gd name="adj" fmla="val 2381"/>
            </a:avLst>
          </a:prstGeom>
          <a:solidFill>
            <a:srgbClr val="0B1210"/>
          </a:solidFill>
          <a:ln/>
          <a:effectLst>
            <a:outerShdw blurRad="127000" dist="38100" dir="5400000" algn="bl" rotWithShape="0">
              <a:srgbClr val="6B7D78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95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asked to: IT Service Bot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use my personal laptop to access production systems if I have MFA enabled?”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364992"/>
            <a:ext cx="5760720" cy="0"/>
          </a:xfrm>
          <a:prstGeom prst="line">
            <a:avLst/>
          </a:prstGeom>
          <a:noFill/>
          <a:ln w="12700">
            <a:solidFill>
              <a:srgbClr val="1E3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5760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is mandatory for all remote access. Personal devices are not permitted to access production systems under any circumstances.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590288"/>
            <a:ext cx="5760720" cy="502920"/>
          </a:xfrm>
          <a:prstGeom prst="roundRect">
            <a:avLst>
              <a:gd name="adj" fmla="val 12727"/>
            </a:avLst>
          </a:prstGeom>
          <a:solidFill>
            <a:srgbClr val="132420"/>
          </a:solidFill>
          <a:ln/>
        </p:spPr>
      </p:sp>
      <p:pic>
        <p:nvPicPr>
          <p:cNvPr id="11" name="Image 0" descr="/home/claude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70916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4590288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sentences matched word-for-word to the security policy document.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52578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100% verified — nothing in this answer was made up.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" y="5623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sentence couldn't be matched to a source, it would show up in orange (unverified) or red (contradicted) instead — so reviewers know exactly where to look.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78040" y="2194560"/>
            <a:ext cx="457200" cy="457200"/>
          </a:xfrm>
          <a:prstGeom prst="ellipse">
            <a:avLst/>
          </a:prstGeom>
          <a:solidFill>
            <a:srgbClr val="EFF6F3"/>
          </a:solidFill>
          <a:ln/>
        </p:spPr>
      </p:sp>
      <p:pic>
        <p:nvPicPr>
          <p:cNvPr id="16" name="Image 1" descr="/home/claude/icons/ey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230428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72400" y="2167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hidden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772400" y="24871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visible and traceable — not a single opaque “trust me” score.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178040" y="3429000"/>
            <a:ext cx="457200" cy="457200"/>
          </a:xfrm>
          <a:prstGeom prst="ellipse">
            <a:avLst/>
          </a:prstGeom>
          <a:solidFill>
            <a:srgbClr val="EFF6F3"/>
          </a:solidFill>
          <a:ln/>
        </p:spPr>
      </p:sp>
      <p:pic>
        <p:nvPicPr>
          <p:cNvPr id="20" name="Image 2" descr="/home/claude/icons/boo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353872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documents, real proof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772400" y="3721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checked against the same policy PDFs a human reviewer would open.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178040" y="4663440"/>
            <a:ext cx="457200" cy="457200"/>
          </a:xfrm>
          <a:prstGeom prst="ellipse">
            <a:avLst/>
          </a:prstGeom>
          <a:solidFill>
            <a:srgbClr val="EFF6F3"/>
          </a:solidFill>
          <a:ln/>
        </p:spPr>
      </p:sp>
      <p:pic>
        <p:nvPicPr>
          <p:cNvPr id="24" name="Image 3" descr="/home/claude/icons/flag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477316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0" y="4636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get caught early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772400" y="49560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answer is flagged for review before it ever reaches an employee.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— STEP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answer gets a report 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grades, in plain language — no data-science degree required to read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04872"/>
            <a:ext cx="512064" cy="512064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7" name="Image 0" descr="/home/claude/icons/gau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52374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88920" y="2331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2A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86384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" y="34472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it stick to the facts?”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39319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the answer that's directly backed by a real document.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88536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404872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1" descr="/home/claude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237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28816" y="2331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526280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26280" y="34472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it answer the actual question?”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26280" y="39319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the reply addresses what was actually asked.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28432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84464" y="2404872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2" descr="/home/claude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52374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268712" y="23317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8266176" y="3063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66176" y="344728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it cover everything?”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266176" y="39319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every part of a multi-part question got answered.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5623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below the safe line? The answer is automatically flagged so a real person double-checks it before anyone relies on it.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566160"/>
            <a:ext cx="5303520" cy="5303520"/>
          </a:xfrm>
          <a:prstGeom prst="ellipse">
            <a:avLst/>
          </a:prstGeom>
          <a:solidFill>
            <a:srgbClr val="0B6B5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— STEP 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safety net that catches mistakes before they ship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rulebook that every answer has to pass, no matter how confident it sounds. Each rule can be switched on or off, and every time one catches something, it's written down.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944368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8" name="Image 0" descr="/home/claude/icons/lock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0540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520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private info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404164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phone numbers, and ID numbers get masked automatically.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816352" y="27432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90088" y="2944368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3" name="Image 1" descr="/home/claude/icons/flag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30540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80944" y="3520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safe topics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80944" y="404164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answers that stray into legal or medical advice.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5084064" y="27432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257800" y="2944368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8" name="Image 2" descr="/home/claude/icons/gauge_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30540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48656" y="3520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shaky answers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248656" y="404164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anything under the trust threshold to a human reviewer.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7351776" y="27432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525512" y="2944368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3" name="Image 3" descr="/home/claude/icons/clipboard_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05409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16368" y="3520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concise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516368" y="404164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answers that run too long for sensitive teams like HR.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9619488" y="2743200"/>
            <a:ext cx="2084832" cy="2651760"/>
          </a:xfrm>
          <a:prstGeom prst="roundRect">
            <a:avLst>
              <a:gd name="adj" fmla="val 4386"/>
            </a:avLst>
          </a:prstGeom>
          <a:solidFill>
            <a:srgbClr val="132420"/>
          </a:solidFill>
          <a:ln w="12700">
            <a:solidFill>
              <a:srgbClr val="1E3A3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793224" y="2944368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8" name="Image 4" descr="/home/claude/icons/search_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2952" y="305409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84080" y="3520440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source is fresh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9784080" y="4041648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the source document hasn't been updated in 30+ days.</a:t>
            </a:r>
            <a:endParaRPr lang="en-US" sz="980" dirty="0"/>
          </a:p>
        </p:txBody>
      </p:sp>
      <p:sp>
        <p:nvSpPr>
          <p:cNvPr id="31" name="Text 24"/>
          <p:cNvSpPr/>
          <p:nvPr/>
        </p:nvSpPr>
        <p:spPr>
          <a:xfrm>
            <a:off x="548640" y="5623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rule fires, it's logged automatically — who, what, when, and what happened next.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WATCH OVER THE WHOLE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like a health checkup for every assistant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each assistant one by one, leaders see the whole picture at a glance — and can tell exactly where to look when something's off.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4203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7" name="Image 0" descr="/home/claude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86584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974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A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49808" y="3218688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0128" y="2103120"/>
            <a:ext cx="254203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2286000"/>
            <a:ext cx="384048" cy="384048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2" name="Image 1" descr="/home/claude/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238658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26974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A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511296" y="3218688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trust score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71616" y="2103120"/>
            <a:ext cx="254203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54496" y="2286000"/>
            <a:ext cx="384048" cy="384048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17" name="Image 2" descr="/home/claude/icons/war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38658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26974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F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6272784" y="3218688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needing a second look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833104" y="2103120"/>
            <a:ext cx="254203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15984" y="228600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2" name="Image 3" descr="/home/claude/icons/thum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568" y="238658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15984" y="26974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9034272" y="3218688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said “that helped”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3886200"/>
            <a:ext cx="10698480" cy="2148840"/>
          </a:xfrm>
          <a:prstGeom prst="roundRect">
            <a:avLst>
              <a:gd name="adj" fmla="val 4255"/>
            </a:avLst>
          </a:prstGeom>
          <a:solidFill>
            <a:srgbClr val="0B1210"/>
          </a:solidFill>
          <a:ln/>
        </p:spPr>
      </p:sp>
      <p:sp>
        <p:nvSpPr>
          <p:cNvPr id="26" name="Shape 20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27" name="Image 4" descr="/home/claude/icons/war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28853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4160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spotted something: two assistants were making more mistakes than usual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508760" y="4480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guessing why, the team clicked in and found the real cause in seconds: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22960" y="493776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their source documents — the IT access policy — hadn't been updated in over 30 days. The assistant was still working from old information. Once flagged, it took one click to refresh it.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WHOLE TEAM, NOT JUST ENGINEERS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people, five very different jobs — one shared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36576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2240280"/>
            <a:ext cx="585216" cy="585216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6" name="Image 0" descr="/home/claude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37744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" y="365760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source documents fresh and up to date.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816352" y="1965960"/>
            <a:ext cx="2084832" cy="36576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2240280"/>
            <a:ext cx="585216" cy="585216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1" name="Image 1" descr="/home/claude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3774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62656" y="365760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out tricky questions before an assistant goes live.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84064" y="1965960"/>
            <a:ext cx="2084832" cy="36576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33872" y="2240280"/>
            <a:ext cx="585216" cy="585216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6" name="Image 2" descr="/home/claude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237744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1208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30368" y="365760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answers that got flagged for a second look.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351776" y="1965960"/>
            <a:ext cx="2084832" cy="36576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01584" y="2240280"/>
            <a:ext cx="585216" cy="585216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1" name="Image 3" descr="/home/claude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237744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9792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Owner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0" y="365760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safety rules and audits what happened.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9619488" y="1965960"/>
            <a:ext cx="2084832" cy="36576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69296" y="2240280"/>
            <a:ext cx="585216" cy="585216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6" name="Image 4" descr="/home/claude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6456" y="2377440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47504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65792" y="365760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big-picture trend across every assistant.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start to finish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 of everything you've just seen, in one story.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6" name="Image 0" descr="/home/claude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585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16712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asks the IT bot a question about using a personal laptop for 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51560" y="2606040"/>
            <a:ext cx="0" cy="164592"/>
          </a:xfrm>
          <a:prstGeom prst="line">
            <a:avLst/>
          </a:prstGeom>
          <a:noFill/>
          <a:ln w="19050">
            <a:solidFill>
              <a:srgbClr val="DCE8E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22960" y="2770632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11" name="Image 1" descr="/home/claude/icons/boo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8803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" y="2843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08760" y="27889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 searches the real security policy — not the model's memory.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51560" y="3227832"/>
            <a:ext cx="0" cy="164592"/>
          </a:xfrm>
          <a:prstGeom prst="line">
            <a:avLst/>
          </a:prstGeom>
          <a:noFill/>
          <a:ln w="19050">
            <a:solidFill>
              <a:srgbClr val="DCE8E4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822960" y="3392424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/home/claude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50215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8912" y="3465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08760" y="34107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 answer is checked line by line against that policy.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051560" y="3849624"/>
            <a:ext cx="0" cy="164592"/>
          </a:xfrm>
          <a:prstGeom prst="line">
            <a:avLst/>
          </a:prstGeom>
          <a:noFill/>
          <a:ln w="19050">
            <a:solidFill>
              <a:srgbClr val="DCE8E4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822960" y="4014216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1" name="Image 3" descr="/home/claude/icons/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2394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087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08760" y="4032504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earns a 100% faithfulness score — every claim was verified.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051560" y="4471416"/>
            <a:ext cx="0" cy="164592"/>
          </a:xfrm>
          <a:prstGeom prst="line">
            <a:avLst/>
          </a:prstGeom>
          <a:noFill/>
          <a:ln w="19050">
            <a:solidFill>
              <a:srgbClr val="DCE8E4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12A585"/>
          </a:solidFill>
          <a:ln/>
        </p:spPr>
      </p:sp>
      <p:pic>
        <p:nvPicPr>
          <p:cNvPr id="26" name="Image 4" descr="/home/claude/icons/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7457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8912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508760" y="465429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run automatically: no private data, nothing off-limits.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1051560" y="5093208"/>
            <a:ext cx="0" cy="164592"/>
          </a:xfrm>
          <a:prstGeom prst="line">
            <a:avLst/>
          </a:prstGeom>
          <a:noFill/>
          <a:ln w="19050">
            <a:solidFill>
              <a:srgbClr val="DCE8E4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FF6F59"/>
          </a:solidFill>
          <a:ln/>
        </p:spPr>
      </p:sp>
      <p:pic>
        <p:nvPicPr>
          <p:cNvPr id="31" name="Image 5" descr="/home/claude/icons/thum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536752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38912" y="5330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508760" y="5276088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gets a trustworthy answer — and can even rate it.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prototype to everyday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already fit together — the next steps are about scale, not a redesign.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2651760"/>
            <a:ext cx="10149840" cy="0"/>
          </a:xfrm>
          <a:prstGeom prst="line">
            <a:avLst/>
          </a:prstGeom>
          <a:noFill/>
          <a:ln w="25400">
            <a:solidFill>
              <a:srgbClr val="DC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1962" y="2359152"/>
            <a:ext cx="585216" cy="585216"/>
          </a:xfrm>
          <a:prstGeom prst="ellipse">
            <a:avLst/>
          </a:prstGeom>
          <a:solidFill>
            <a:srgbClr val="12A58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122" y="2496312"/>
            <a:ext cx="310896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3000" y="3154680"/>
            <a:ext cx="2263140" cy="2286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32588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361188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more people at once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325880" y="4206240"/>
            <a:ext cx="18973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the storage so many people can use it at the same time.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519422" y="2359152"/>
            <a:ext cx="585216" cy="585216"/>
          </a:xfrm>
          <a:prstGeom prst="ellipse">
            <a:avLst/>
          </a:prstGeom>
          <a:solidFill>
            <a:srgbClr val="12A58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1" descr="/home/claude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582" y="2496312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80460" y="3154680"/>
            <a:ext cx="2263140" cy="2286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86334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863340" y="361188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sign-in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863340" y="4206240"/>
            <a:ext cx="18973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the same login employees already use everywhere else.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7056882" y="2359152"/>
            <a:ext cx="585216" cy="585216"/>
          </a:xfrm>
          <a:prstGeom prst="ellipse">
            <a:avLst/>
          </a:prstGeom>
          <a:solidFill>
            <a:srgbClr val="12A58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9" name="Image 2" descr="/home/claude/icons/gau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042" y="2496312"/>
            <a:ext cx="310896" cy="31089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17920" y="3154680"/>
            <a:ext cx="2263140" cy="2286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40080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0" y="361188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grading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0" y="4206240"/>
            <a:ext cx="18973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more advanced model for scoring each answer.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9594342" y="2359152"/>
            <a:ext cx="585216" cy="585216"/>
          </a:xfrm>
          <a:prstGeom prst="ellipse">
            <a:avLst/>
          </a:prstGeom>
          <a:solidFill>
            <a:srgbClr val="12A58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3" descr="/home/claude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1502" y="2496312"/>
            <a:ext cx="310896" cy="31089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755380" y="3154680"/>
            <a:ext cx="2263140" cy="2286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D78">
                <a:alpha val="1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93826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938260" y="3611880"/>
            <a:ext cx="18973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 team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938260" y="4206240"/>
            <a:ext cx="18973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it out separately for each department, with its own settings.</a:t>
            </a:r>
            <a:endParaRPr lang="en-US" sz="980" dirty="0"/>
          </a:p>
        </p:txBody>
      </p:sp>
      <p:sp>
        <p:nvSpPr>
          <p:cNvPr id="30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 ·  A PLAIN-ENGLISH WALKTHROUGH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0B6B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840480"/>
            <a:ext cx="5029200" cy="5029200"/>
          </a:xfrm>
          <a:prstGeom prst="ellipse">
            <a:avLst/>
          </a:prstGeom>
          <a:solidFill>
            <a:srgbClr val="FF6F5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1828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2A585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AI isn't a promise.</a:t>
            </a:r>
            <a:endParaRPr lang="en-US" sz="3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something you can check.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443484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AI Conversation Studio makes possible — for every assistant, every answer, every time.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5212080"/>
            <a:ext cx="9235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5468112"/>
            <a:ext cx="9235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 Shah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63040" y="5815584"/>
            <a:ext cx="9235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6071616"/>
            <a:ext cx="9235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 Studio · Global Enterprise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63040" y="6419088"/>
            <a:ext cx="9235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2A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6675120"/>
            <a:ext cx="9235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v0.5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</Words>
  <Application>Microsoft Office PowerPoint</Application>
  <PresentationFormat>Widescreen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archit shah</cp:lastModifiedBy>
  <cp:revision>1</cp:revision>
  <dcterms:created xsi:type="dcterms:W3CDTF">2026-07-19T12:14:40Z</dcterms:created>
  <dcterms:modified xsi:type="dcterms:W3CDTF">2026-08-21T18:15:34Z</dcterms:modified>
</cp:coreProperties>
</file>